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E05E1-BF3B-45F4-A4FB-3212D0B89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382E00-844E-4FDF-919E-B0EDA4F7E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1A9004-8156-4034-83EE-9B27A4DA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B8F156-4918-49FE-9123-D940C10F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7FE191-B619-4D22-9F0A-B3B60835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5807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3FBE8-E645-4107-888E-7EA7696D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6CF098-7134-4806-B40E-369860843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27AD6-30DB-4C4F-B31F-B19CFFA54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283001-9E8F-41F2-8AA8-E679C522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42C0EF-A2BF-48A6-A301-7D293F6A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22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D08D6-D28E-4C68-950F-42543DFB1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2BA01F-A384-480D-8E9F-D7ED34FC6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5B4182-7436-4C02-B4E5-E9B6DB09B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556BD-D58F-4486-AFBD-34B78986D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82396A-88E6-4418-A637-B23E7680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826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4F423-C25E-4BD3-A75B-AE52EE64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D931C9-5DFB-4BC9-99BF-D6390E9CF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F372EF-B273-4F3C-8958-F040D71D4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88B87B-B395-48F6-A3D6-8E12AE94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918CD9-F9D9-4CAD-828C-B9360779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F15258-4337-4AA7-96E9-856286787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598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92826-CD57-4692-805E-72C28BBA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FDF336-CEE1-475A-88ED-E65AC156D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2002C2-D855-4E8B-883C-39166FECB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A562BA-9060-4802-9AEF-6971D2B45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D800B0-007D-480C-8246-CA122927A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B2F8F3-1D5F-4C93-A8A6-BEE0B9A4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FCEBFFD-58F9-4E13-BFD2-29458EE9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8A3E35-D0CA-4CFD-82E7-9387B1D5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535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E6D9D-ACA6-4AB0-9D43-7693D28B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3FA352-DA16-45D0-9F86-C599FB62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9C8B91-0E52-4EB7-98BD-B0CFCF6B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FC32C8-94B0-4CE4-AE3A-F5AC0F01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2693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05E590C-C341-4616-8FFD-CA6EA34C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0DF9AA-7AF3-4B8D-A553-F22B756B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5D7E3A-14CB-4A0B-A62F-692395AC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150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71924-816A-4318-8CAD-59895B9F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7054FE-4876-42BD-8127-9539095D1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946336-4D10-4288-A0E3-C19BCC3FE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6484B6-331E-4BC2-9F5E-79D94DE5B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A3E34D-B4A9-42EB-9105-D577F612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98F902-81E9-4DBF-8BCC-C3E7444C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87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B747A-D49E-4AC5-A9CC-C9821D35D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732843-575B-4E75-A55E-0C74BBAB8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A6A42C-631B-47DA-8E9F-77DC971EE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893FFA-8D8C-44B7-8EE8-2D1A639B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44BD17-BAED-44FA-A47A-73B123036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AAA598-47A6-47F1-8F86-58B166AE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1385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F26DC-3C44-41C8-A668-3743BA85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FCA72C-6B2C-474A-96BF-D0F49408A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D29D23-808A-4340-84AD-14455B19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E183E2-E61C-4FA5-A7D0-9F445CCB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EE65FC-A06E-4349-AC88-91760FBF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5679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26F92C-F585-47CF-8864-8F1630EDA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DE93DD-F860-465D-84B9-7732421BB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BEB77A-7B31-46BB-B19B-3D411065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F26468-E525-476E-BE4E-25848AE2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407481-054D-40A1-AFBD-17508A8C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845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722871-70B0-4552-A1EE-DE717681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060BA-3027-4A50-A084-5275FDCD6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C15292-2D6D-4474-9E2B-0E096F183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2E5A4-F58F-4F6A-A590-D3ED91EB627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8E6BE6-305C-4447-966E-E77CFCAAF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DC15E7-9381-4C0A-A97C-08541D2DA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DE2D5-00C8-4744-A14F-847AD4F8A85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464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7DAF5-4C66-48DD-8ADB-D929F13E3F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L" sz="4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Desafío - Diagnóstico y conexión de fuentes en </a:t>
            </a:r>
            <a:r>
              <a:rPr lang="es-CL" sz="4400" b="1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</a:t>
            </a:r>
            <a:r>
              <a:rPr lang="es-CL" sz="4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</a:t>
            </a:r>
            <a:br>
              <a:rPr lang="es-CL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CL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8FF6F3-2C9D-4C6D-B340-B80439663B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Investigación y justificación del uso de </a:t>
            </a:r>
            <a:r>
              <a:rPr lang="es-CL" b="1" dirty="0" err="1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s-CL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 frente a otras herramientas BI.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5585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2CF9-0009-4441-9B87-AC3B8CDF1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63" y="77256"/>
            <a:ext cx="10515600" cy="4130676"/>
          </a:xfrm>
        </p:spPr>
        <p:txBody>
          <a:bodyPr>
            <a:normAutofit fontScale="90000"/>
          </a:bodyPr>
          <a:lstStyle/>
          <a:p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r>
              <a:rPr lang="es-CL" sz="2400" b="0" i="0" u="none" strike="noStrike" baseline="0" dirty="0">
                <a:solidFill>
                  <a:srgbClr val="0070C0"/>
                </a:solidFill>
              </a:rPr>
              <a:t> </a:t>
            </a:r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r>
              <a:rPr lang="es-CL" sz="2400" b="0" i="0" u="none" strike="noStrike" baseline="0" dirty="0">
                <a:solidFill>
                  <a:srgbClr val="0070C0"/>
                </a:solidFill>
              </a:rPr>
              <a:t>¿Qué es un sistema BI y cuál es su importancia? </a:t>
            </a:r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r>
              <a:rPr lang="es-CL" sz="2000" b="0" i="0" u="none" strike="noStrike" baseline="0" dirty="0">
                <a:solidFill>
                  <a:srgbClr val="0070C0"/>
                </a:solidFill>
              </a:rPr>
              <a:t>Un Sistema de Business </a:t>
            </a:r>
            <a:r>
              <a:rPr lang="es-CL" sz="2000" b="0" i="0" u="none" strike="noStrike" baseline="0" dirty="0" err="1">
                <a:solidFill>
                  <a:srgbClr val="0070C0"/>
                </a:solidFill>
              </a:rPr>
              <a:t>Intelligence</a:t>
            </a:r>
            <a:r>
              <a:rPr lang="es-CL" sz="2000" b="0" i="0" u="none" strike="noStrike" baseline="0" dirty="0">
                <a:solidFill>
                  <a:srgbClr val="0070C0"/>
                </a:solidFill>
              </a:rPr>
              <a:t> (BI) es un conjunto de herramientas, metodologías, procesos y tecnologías que permite transformar datos de una organización en información útil para la toma de decisiones, utilizando el siguiente flujo:</a:t>
            </a:r>
            <a:br>
              <a:rPr lang="es-CL" sz="2700" b="0" i="0" u="none" strike="noStrike" baseline="0" dirty="0">
                <a:solidFill>
                  <a:srgbClr val="0070C0"/>
                </a:solidFill>
              </a:rPr>
            </a:br>
            <a:br>
              <a:rPr lang="es-CL" sz="2700" b="0" i="0" u="none" strike="noStrike" baseline="0" dirty="0">
                <a:solidFill>
                  <a:srgbClr val="0070C0"/>
                </a:solidFill>
              </a:rPr>
            </a:br>
            <a:br>
              <a:rPr lang="es-CL" sz="2700" b="0" i="0" u="none" strike="noStrike" baseline="0" dirty="0">
                <a:solidFill>
                  <a:srgbClr val="0070C0"/>
                </a:solidFill>
              </a:rPr>
            </a:br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r>
              <a:rPr lang="es-CL" sz="1600" dirty="0">
                <a:solidFill>
                  <a:srgbClr val="0070C0"/>
                </a:solidFill>
              </a:rPr>
              <a:t>   </a:t>
            </a:r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br>
              <a:rPr lang="es-CL" sz="2400" b="0" i="0" u="none" strike="noStrike" baseline="0" dirty="0">
                <a:solidFill>
                  <a:srgbClr val="0070C0"/>
                </a:solidFill>
              </a:rPr>
            </a:br>
            <a:endParaRPr lang="es-CL" sz="2400" dirty="0">
              <a:solidFill>
                <a:srgbClr val="0070C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C81F608-F059-477A-852E-E6461A4E4041}"/>
              </a:ext>
            </a:extLst>
          </p:cNvPr>
          <p:cNvSpPr/>
          <p:nvPr/>
        </p:nvSpPr>
        <p:spPr>
          <a:xfrm>
            <a:off x="924024" y="3023260"/>
            <a:ext cx="1294243" cy="4819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Fuente de Datos</a:t>
            </a:r>
          </a:p>
          <a:p>
            <a:pPr algn="ctr"/>
            <a:r>
              <a:rPr lang="es-CL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SQL – Excel - ERP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3740B47-BC74-41F1-9EAE-6BA6C1D18965}"/>
              </a:ext>
            </a:extLst>
          </p:cNvPr>
          <p:cNvSpPr/>
          <p:nvPr/>
        </p:nvSpPr>
        <p:spPr>
          <a:xfrm>
            <a:off x="2621599" y="3023259"/>
            <a:ext cx="1296000" cy="4819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Extracción y Transformación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E24E52-2EA6-47D1-B806-B62616409966}"/>
              </a:ext>
            </a:extLst>
          </p:cNvPr>
          <p:cNvSpPr/>
          <p:nvPr/>
        </p:nvSpPr>
        <p:spPr>
          <a:xfrm>
            <a:off x="4316113" y="3015952"/>
            <a:ext cx="1296000" cy="48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Modelo de Datos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0E726F4-3A87-4B1C-8E74-68F5951E11D1}"/>
              </a:ext>
            </a:extLst>
          </p:cNvPr>
          <p:cNvSpPr/>
          <p:nvPr/>
        </p:nvSpPr>
        <p:spPr>
          <a:xfrm>
            <a:off x="6015885" y="3015952"/>
            <a:ext cx="1296000" cy="48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Análisis/DAX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8AE698B-2550-49D9-BD78-C4649F1016CF}"/>
              </a:ext>
            </a:extLst>
          </p:cNvPr>
          <p:cNvCxnSpPr/>
          <p:nvPr/>
        </p:nvCxnSpPr>
        <p:spPr>
          <a:xfrm>
            <a:off x="2242419" y="3278288"/>
            <a:ext cx="346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698D1FA-7EF6-44A2-ABBA-FAB878F6C934}"/>
              </a:ext>
            </a:extLst>
          </p:cNvPr>
          <p:cNvCxnSpPr/>
          <p:nvPr/>
        </p:nvCxnSpPr>
        <p:spPr>
          <a:xfrm>
            <a:off x="3940391" y="3264228"/>
            <a:ext cx="346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0C11F80-0BFF-4284-9FDF-EBC4C0557BC8}"/>
              </a:ext>
            </a:extLst>
          </p:cNvPr>
          <p:cNvCxnSpPr/>
          <p:nvPr/>
        </p:nvCxnSpPr>
        <p:spPr>
          <a:xfrm>
            <a:off x="5656354" y="3257152"/>
            <a:ext cx="346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39943A5-4E51-4F21-AC6D-E092D9462F52}"/>
              </a:ext>
            </a:extLst>
          </p:cNvPr>
          <p:cNvSpPr/>
          <p:nvPr/>
        </p:nvSpPr>
        <p:spPr>
          <a:xfrm>
            <a:off x="7717689" y="2990553"/>
            <a:ext cx="1296000" cy="48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Dashboards</a:t>
            </a:r>
            <a:endParaRPr lang="es-CL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57553F5-A483-4FEC-839D-29F1C01EE33D}"/>
              </a:ext>
            </a:extLst>
          </p:cNvPr>
          <p:cNvCxnSpPr/>
          <p:nvPr/>
        </p:nvCxnSpPr>
        <p:spPr>
          <a:xfrm>
            <a:off x="7358158" y="3231753"/>
            <a:ext cx="346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EE5C065-8198-48BB-ABCD-752B01FB6814}"/>
              </a:ext>
            </a:extLst>
          </p:cNvPr>
          <p:cNvSpPr/>
          <p:nvPr/>
        </p:nvSpPr>
        <p:spPr>
          <a:xfrm>
            <a:off x="9417461" y="2990553"/>
            <a:ext cx="1296000" cy="48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Toma de Decisiones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8B76849-39CC-4435-806E-E09D564DA98D}"/>
              </a:ext>
            </a:extLst>
          </p:cNvPr>
          <p:cNvCxnSpPr/>
          <p:nvPr/>
        </p:nvCxnSpPr>
        <p:spPr>
          <a:xfrm>
            <a:off x="9057930" y="3231753"/>
            <a:ext cx="346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7AD8D6D-FC4E-4D3A-A46A-9E707A0EAC93}"/>
              </a:ext>
            </a:extLst>
          </p:cNvPr>
          <p:cNvSpPr txBox="1"/>
          <p:nvPr/>
        </p:nvSpPr>
        <p:spPr>
          <a:xfrm>
            <a:off x="924024" y="4157136"/>
            <a:ext cx="98540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800" dirty="0">
                <a:solidFill>
                  <a:srgbClr val="0070C0"/>
                </a:solidFill>
              </a:rPr>
              <a:t>El sistema BI integra estas fuentes y permite responder preguntas como:</a:t>
            </a:r>
          </a:p>
          <a:p>
            <a:endParaRPr lang="es-CL" sz="12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¿Cuánto Vendimos?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¿Cuál es nuestro margen?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¿Qué producto se vende mas?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¿Qué sucursal tiene menos rendimiento?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Que clientes compran mas productos?</a:t>
            </a:r>
            <a:br>
              <a:rPr lang="es-CL" sz="1800" dirty="0">
                <a:solidFill>
                  <a:srgbClr val="0070C0"/>
                </a:solidFill>
              </a:rPr>
            </a:b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81604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40025-4914-44C6-BCB7-874C0EDB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509"/>
            <a:ext cx="10515600" cy="2588491"/>
          </a:xfrm>
        </p:spPr>
        <p:txBody>
          <a:bodyPr>
            <a:normAutofit fontScale="90000"/>
          </a:bodyPr>
          <a:lstStyle/>
          <a:p>
            <a:r>
              <a:rPr lang="es-CL" sz="2400" dirty="0">
                <a:solidFill>
                  <a:srgbClr val="0070C0"/>
                </a:solidFill>
              </a:rPr>
              <a:t>¿Cuál es la importancia de un sistema BI?</a:t>
            </a:r>
            <a:br>
              <a:rPr lang="es-CL" sz="2400" dirty="0">
                <a:solidFill>
                  <a:srgbClr val="0070C0"/>
                </a:solidFill>
              </a:rPr>
            </a:br>
            <a:br>
              <a:rPr lang="es-CL" dirty="0"/>
            </a:br>
            <a:r>
              <a:rPr lang="es-CL" sz="2400" dirty="0">
                <a:solidFill>
                  <a:srgbClr val="0070C0"/>
                </a:solidFill>
              </a:rPr>
              <a:t>La principal importancia de Business </a:t>
            </a:r>
            <a:r>
              <a:rPr lang="es-CL" sz="2400" dirty="0" err="1">
                <a:solidFill>
                  <a:srgbClr val="0070C0"/>
                </a:solidFill>
              </a:rPr>
              <a:t>Intelligence</a:t>
            </a:r>
            <a:r>
              <a:rPr lang="es-CL" sz="2400" dirty="0">
                <a:solidFill>
                  <a:srgbClr val="0070C0"/>
                </a:solidFill>
              </a:rPr>
              <a:t> (BI) es que permite tomar decisiones basadas en datos y no en intuición.</a:t>
            </a:r>
            <a:br>
              <a:rPr lang="es-CL" sz="2400" dirty="0">
                <a:solidFill>
                  <a:srgbClr val="0070C0"/>
                </a:solidFill>
              </a:rPr>
            </a:br>
            <a:br>
              <a:rPr lang="es-CL" dirty="0"/>
            </a:br>
            <a:br>
              <a:rPr lang="es-CL" dirty="0"/>
            </a:br>
            <a:br>
              <a:rPr lang="es-CL" dirty="0"/>
            </a:b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D7E9A1-2236-4276-A3A1-E4667EDEA00E}"/>
              </a:ext>
            </a:extLst>
          </p:cNvPr>
          <p:cNvSpPr txBox="1"/>
          <p:nvPr/>
        </p:nvSpPr>
        <p:spPr>
          <a:xfrm>
            <a:off x="3180386" y="2024502"/>
            <a:ext cx="2028923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200" dirty="0">
                <a:solidFill>
                  <a:srgbClr val="0070C0"/>
                </a:solidFill>
              </a:rPr>
              <a:t>SIN BI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Datos Dispersos.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Excel Diferentes.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 err="1">
                <a:solidFill>
                  <a:srgbClr val="0070C0"/>
                </a:solidFill>
              </a:rPr>
              <a:t>Info</a:t>
            </a:r>
            <a:r>
              <a:rPr lang="es-CL" sz="1200" dirty="0">
                <a:solidFill>
                  <a:srgbClr val="0070C0"/>
                </a:solidFill>
              </a:rPr>
              <a:t>. Contradictoria.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Trabajo Manual.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Decisiones Lentas.</a:t>
            </a:r>
          </a:p>
          <a:p>
            <a:pPr algn="ctr"/>
            <a:endParaRPr lang="es-CL" dirty="0">
              <a:solidFill>
                <a:srgbClr val="0070C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C2A3F0-6F63-4ED8-B063-EBC7936389D9}"/>
              </a:ext>
            </a:extLst>
          </p:cNvPr>
          <p:cNvSpPr txBox="1"/>
          <p:nvPr/>
        </p:nvSpPr>
        <p:spPr>
          <a:xfrm>
            <a:off x="5858932" y="2036447"/>
            <a:ext cx="2028923" cy="1661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200" dirty="0">
                <a:solidFill>
                  <a:srgbClr val="0070C0"/>
                </a:solidFill>
              </a:rPr>
              <a:t>CON BI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Fuentes Integradas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Datos Preparados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Indicadores Confiables.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 err="1">
                <a:solidFill>
                  <a:srgbClr val="0070C0"/>
                </a:solidFill>
              </a:rPr>
              <a:t>Dashboard</a:t>
            </a:r>
            <a:endParaRPr lang="es-CL" sz="12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 err="1">
                <a:solidFill>
                  <a:srgbClr val="0070C0"/>
                </a:solidFill>
              </a:rPr>
              <a:t>Info</a:t>
            </a:r>
            <a:r>
              <a:rPr lang="es-CL" sz="1200" dirty="0">
                <a:solidFill>
                  <a:srgbClr val="0070C0"/>
                </a:solidFill>
              </a:rPr>
              <a:t>. En tiempo oportuno.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0070C0"/>
                </a:solidFill>
              </a:rPr>
              <a:t>Mejores Decisiones.</a:t>
            </a:r>
          </a:p>
          <a:p>
            <a:pPr algn="ctr"/>
            <a:endParaRPr lang="es-CL" dirty="0">
              <a:solidFill>
                <a:srgbClr val="0070C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B43046C-C6F7-4FAA-8D52-1E4EBBB1843D}"/>
              </a:ext>
            </a:extLst>
          </p:cNvPr>
          <p:cNvSpPr txBox="1"/>
          <p:nvPr/>
        </p:nvSpPr>
        <p:spPr>
          <a:xfrm>
            <a:off x="995409" y="3943928"/>
            <a:ext cx="103562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rgbClr val="0070C0"/>
                </a:solidFill>
                <a:latin typeface="Calibri Light (Títulos)"/>
              </a:rPr>
              <a:t>Existen diversas plataformas BI en el mercado, entre ellas Microsoft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Power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 BI,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Tableau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,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Qlik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Sense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 y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Looker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.</a:t>
            </a:r>
          </a:p>
          <a:p>
            <a:endParaRPr lang="es-CL" dirty="0">
              <a:solidFill>
                <a:srgbClr val="0070C0"/>
              </a:solidFill>
              <a:latin typeface="Calibri Light (Títulos)"/>
            </a:endParaRPr>
          </a:p>
          <a:p>
            <a:r>
              <a:rPr lang="es-CL" dirty="0">
                <a:solidFill>
                  <a:srgbClr val="0070C0"/>
                </a:solidFill>
                <a:latin typeface="Calibri Light (Títulos)"/>
              </a:rPr>
              <a:t>Para una organización que trabaja con tecnologías Microsoft, bases de datos SQL Server, Excel y servicios en la nube, </a:t>
            </a:r>
            <a:r>
              <a:rPr lang="es-CL" b="1" dirty="0" err="1">
                <a:solidFill>
                  <a:srgbClr val="0070C0"/>
                </a:solidFill>
                <a:latin typeface="Calibri Light (Títulos)"/>
              </a:rPr>
              <a:t>Power</a:t>
            </a:r>
            <a:r>
              <a:rPr lang="es-CL" b="1" dirty="0">
                <a:solidFill>
                  <a:srgbClr val="0070C0"/>
                </a:solidFill>
                <a:latin typeface="Calibri Light (Títulos)"/>
              </a:rPr>
              <a:t> BI constituye una alternativa especialmente conveniente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, debido a su integración con el ecosistema Microsoft, sus capacidades de transformación y modelamiento de datos, visualización, seguridad y distribución de información.</a:t>
            </a:r>
          </a:p>
          <a:p>
            <a:endParaRPr lang="es-CL" dirty="0">
              <a:solidFill>
                <a:srgbClr val="0070C0"/>
              </a:solidFill>
              <a:latin typeface="Calibri Light (Títulos)"/>
            </a:endParaRPr>
          </a:p>
          <a:p>
            <a:endParaRPr lang="es-CL" dirty="0">
              <a:solidFill>
                <a:srgbClr val="0070C0"/>
              </a:solidFill>
            </a:endParaRPr>
          </a:p>
          <a:p>
            <a:endParaRPr lang="es-CL" dirty="0">
              <a:solidFill>
                <a:srgbClr val="0070C0"/>
              </a:solidFill>
            </a:endParaRPr>
          </a:p>
          <a:p>
            <a:endParaRPr lang="es-CL" dirty="0">
              <a:solidFill>
                <a:srgbClr val="0070C0"/>
              </a:solidFill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5041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21B7545-17F5-4FC0-AF39-907AF84D5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884537"/>
            <a:ext cx="6848349" cy="393677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4691415-C11F-4087-B2FD-935EAC45F65F}"/>
              </a:ext>
            </a:extLst>
          </p:cNvPr>
          <p:cNvSpPr txBox="1"/>
          <p:nvPr/>
        </p:nvSpPr>
        <p:spPr>
          <a:xfrm>
            <a:off x="2438400" y="667356"/>
            <a:ext cx="26137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200" dirty="0">
                <a:solidFill>
                  <a:srgbClr val="0070C0"/>
                </a:solidFill>
                <a:latin typeface="Calibri Light (Títulos)"/>
              </a:rPr>
              <a:t>Comparación general</a:t>
            </a:r>
          </a:p>
        </p:txBody>
      </p:sp>
    </p:spTree>
    <p:extLst>
      <p:ext uri="{BB962C8B-B14F-4D97-AF65-F5344CB8AC3E}">
        <p14:creationId xmlns:p14="http://schemas.microsoft.com/office/powerpoint/2010/main" val="335646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9FED7D7-88BA-43F4-BF03-5153307C0B71}"/>
              </a:ext>
            </a:extLst>
          </p:cNvPr>
          <p:cNvSpPr txBox="1"/>
          <p:nvPr/>
        </p:nvSpPr>
        <p:spPr>
          <a:xfrm>
            <a:off x="877454" y="676592"/>
            <a:ext cx="10529455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dirty="0">
                <a:solidFill>
                  <a:srgbClr val="0070C0"/>
                </a:solidFill>
                <a:latin typeface="Calibri Light (Títulos)"/>
              </a:rPr>
              <a:t>Características Principales del entorno </a:t>
            </a:r>
            <a:r>
              <a:rPr lang="es-CL" sz="2200" dirty="0" err="1">
                <a:solidFill>
                  <a:srgbClr val="0070C0"/>
                </a:solidFill>
                <a:latin typeface="Calibri Light (Títulos)"/>
              </a:rPr>
              <a:t>Power</a:t>
            </a:r>
            <a:r>
              <a:rPr lang="es-CL" sz="2200" dirty="0">
                <a:solidFill>
                  <a:srgbClr val="0070C0"/>
                </a:solidFill>
                <a:latin typeface="Calibri Light (Títulos)"/>
              </a:rPr>
              <a:t> BI.</a:t>
            </a:r>
          </a:p>
          <a:p>
            <a:endParaRPr lang="es-CL" sz="2200" dirty="0">
              <a:solidFill>
                <a:srgbClr val="0070C0"/>
              </a:solidFill>
              <a:latin typeface="Calibri Light (Títulos)"/>
            </a:endParaRPr>
          </a:p>
          <a:p>
            <a:r>
              <a:rPr lang="es-CL" dirty="0">
                <a:solidFill>
                  <a:srgbClr val="0070C0"/>
                </a:solidFill>
                <a:latin typeface="Calibri Light (Títulos)"/>
              </a:rPr>
              <a:t>El entorno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Power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 BI está diseñado para cubrir todo el ciclo de trabajo de Business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Intelligence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: conectar datos (SQL, Excel, CSV, Access, Oracle, Azure,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Servicis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 web y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APIs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), transformarlos (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Power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Query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: permite eliminar datos duplicados,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cambair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 tipos de datos, combinar tablas, ), modelarlos (PBI permite crear relaciones entres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dif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 tablas), analizarlos (permite crear formular de cálculos y medidas dentro del modelo, DAX), visualizarlos (Diferentes tipos de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graficos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, tablas, matrices, 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segmentadores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) y compartir los resultados (</a:t>
            </a:r>
            <a:r>
              <a:rPr lang="es-CL" dirty="0" err="1">
                <a:solidFill>
                  <a:srgbClr val="0070C0"/>
                </a:solidFill>
                <a:latin typeface="Calibri Light (Títulos)"/>
              </a:rPr>
              <a:t>Dashboard</a:t>
            </a:r>
            <a:r>
              <a:rPr lang="es-CL" dirty="0">
                <a:solidFill>
                  <a:srgbClr val="0070C0"/>
                </a:solidFill>
                <a:latin typeface="Calibri Light (Títulos)"/>
              </a:rPr>
              <a:t>).</a:t>
            </a:r>
          </a:p>
          <a:p>
            <a:endParaRPr lang="es-CL" dirty="0">
              <a:solidFill>
                <a:srgbClr val="0070C0"/>
              </a:solidFill>
              <a:latin typeface="Calibri Light (Títulos)"/>
            </a:endParaRPr>
          </a:p>
          <a:p>
            <a:endParaRPr lang="es-CL" dirty="0">
              <a:solidFill>
                <a:srgbClr val="0070C0"/>
              </a:solidFill>
              <a:latin typeface="Calibri Light (Títulos)"/>
            </a:endParaRPr>
          </a:p>
          <a:p>
            <a:endParaRPr lang="es-CL" dirty="0">
              <a:solidFill>
                <a:srgbClr val="0070C0"/>
              </a:solidFill>
              <a:latin typeface="Calibri Light (Títulos)"/>
            </a:endParaRPr>
          </a:p>
          <a:p>
            <a:endParaRPr lang="es-CL" dirty="0">
              <a:solidFill>
                <a:srgbClr val="0070C0"/>
              </a:solidFill>
              <a:latin typeface="Calibri Light (Títulos)"/>
            </a:endParaRPr>
          </a:p>
        </p:txBody>
      </p:sp>
    </p:spTree>
    <p:extLst>
      <p:ext uri="{BB962C8B-B14F-4D97-AF65-F5344CB8AC3E}">
        <p14:creationId xmlns:p14="http://schemas.microsoft.com/office/powerpoint/2010/main" val="23603827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419</Words>
  <Application>Microsoft Office PowerPoint</Application>
  <PresentationFormat>Panorámica</PresentationFormat>
  <Paragraphs>43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Calibri Light (Títulos)</vt:lpstr>
      <vt:lpstr>Tema de Office</vt:lpstr>
      <vt:lpstr>Desafío - Diagnóstico y conexión de fuentes en Power BI </vt:lpstr>
      <vt:lpstr>     ¿Qué es un sistema BI y cuál es su importancia?   Un Sistema de Business Intelligence (BI) es un conjunto de herramientas, metodologías, procesos y tecnologías que permite transformar datos de una organización en información útil para la toma de decisiones, utilizando el siguiente flujo:           </vt:lpstr>
      <vt:lpstr>¿Cuál es la importancia de un sistema BI?  La principal importancia de Business Intelligence (BI) es que permite tomar decisiones basadas en datos y no en intuición.   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Desafío - Diagnóstico y conexión de fuentes en Power BI </dc:title>
  <dc:creator>Rodolfo Delgado</dc:creator>
  <cp:lastModifiedBy>Rodolfo Delgado</cp:lastModifiedBy>
  <cp:revision>10</cp:revision>
  <dcterms:created xsi:type="dcterms:W3CDTF">2026-08-11T02:50:08Z</dcterms:created>
  <dcterms:modified xsi:type="dcterms:W3CDTF">2026-08-11T04:24:55Z</dcterms:modified>
</cp:coreProperties>
</file>